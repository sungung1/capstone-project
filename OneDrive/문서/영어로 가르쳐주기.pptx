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2E96FC-2BB5-73FE-21A5-095BA329E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FACDEA-020D-76BE-5C4B-EAD947897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8FE8F8-4754-A019-5016-C3CC04F59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1B84-C56B-4158-BF91-B47A5451F9D7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77E2F-2AF7-46C2-4028-8B6929C30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E9E76E-9CDF-8723-029D-195CE227B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06C-8632-424B-BF41-F478A3F78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12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76D0B7-69F2-6B1A-ACC9-050CDD688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ECEFB9-BB02-EA97-2A78-2D3300B87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B8B20E-78D8-65F5-12F2-28D377EBE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1B84-C56B-4158-BF91-B47A5451F9D7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9F8D4C-280E-A3FA-CBF3-4B0B0984A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914EE4-6DBD-A492-E2B4-F333AF58A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06C-8632-424B-BF41-F478A3F78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947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8F49D-9D37-43D2-5F85-BCF6310AF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DE71BC-AA3E-1213-DA62-3CB9AFEF0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498252-3D0D-222A-61F4-2C5D04DF2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1B84-C56B-4158-BF91-B47A5451F9D7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87B55-CE7C-EF2C-3CFF-8C754602A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106B47-CE5A-5D20-B514-96AA2DC65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06C-8632-424B-BF41-F478A3F78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683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453117-51FC-E382-6D67-F5BD3F423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3AD9A8-FDCC-7754-F67D-85D1005D0E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859EA0-53BD-4A50-E700-BA54C09CA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A52B31-3352-598F-3D97-64189C5E4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1B84-C56B-4158-BF91-B47A5451F9D7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F9D8EF-235A-6A96-C34B-677E477FA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D1E826-5A3B-10EC-2CBE-1B7727E3F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06C-8632-424B-BF41-F478A3F78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362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C9AAD-7B6F-1BAA-A4EF-099A1BA6D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FBEBC9-10DE-ACE2-8F29-838C41E82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2C4A38-C5DB-6B07-E42A-85280E242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4D1760-02CB-E87A-EA4C-6E1A28D55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D98854-9B26-0A5E-5641-29E09F6245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2764AB-6237-39D7-D630-1361D0EA2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1B84-C56B-4158-BF91-B47A5451F9D7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36CE071-1C50-D815-721F-D9484CF7B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0A3C37F-5DA2-1203-81E6-E5F7AFA99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06C-8632-424B-BF41-F478A3F78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627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E3D4E2-CDE3-B8A3-A59A-30B3AEC87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5037AC-3891-7F75-3F9E-4F3377E1E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1B84-C56B-4158-BF91-B47A5451F9D7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E70FCF-E424-8215-D72F-5625C144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2424A8-EDCE-2AA9-942B-A670FE6DD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06C-8632-424B-BF41-F478A3F78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080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74A0CD-051B-8A4C-E59E-55789FECA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1B84-C56B-4158-BF91-B47A5451F9D7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97CB784-2712-CF70-676D-801251A9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8436D4-B58D-5666-455E-460AD65F7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06C-8632-424B-BF41-F478A3F78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774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015774-C57F-694C-6F5C-966C594B4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396275-C923-20CC-CAD1-765B71C59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4873F2-A23D-6103-381C-B09C167CB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C3FFA0-6F1C-BC06-BAAD-2EBA8A1DF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1B84-C56B-4158-BF91-B47A5451F9D7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C4D1DB-BB6A-70C9-39CB-CCF85B120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76B1BB-9A68-1FF9-D2FC-31E50EC71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06C-8632-424B-BF41-F478A3F78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834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CDA0B-0973-F21D-7F1F-7592324C9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4F35BAC-765B-4472-A2B6-3783B50E3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2C1C40-D4AA-D107-6151-7A88B30A1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7E31EE-A7F3-E089-37CB-2811508AD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1B84-C56B-4158-BF91-B47A5451F9D7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CA0E71-BF7B-099E-FA2B-0B8133BBE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2D120C-BB2C-28EE-65C1-29D177658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06C-8632-424B-BF41-F478A3F78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710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617A89-61E8-7E5E-292C-4611FB900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AA5A8D-D3D5-A2A5-81A2-1D0A4CAAC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049F25-34B8-5C93-D4DE-E5D18C98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1B84-C56B-4158-BF91-B47A5451F9D7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5707FC-55C5-E741-445F-46F8BCFE8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F5B922-80D5-BA9E-7AD4-D6E621759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06C-8632-424B-BF41-F478A3F78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691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591D70-5245-80FF-D63F-D5378AA0F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63E2F5-A30C-A9C9-C51F-B39E354D1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759117-E563-74B0-B0C5-D2C8D5A4F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1B84-C56B-4158-BF91-B47A5451F9D7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7E7FD0-58E2-1960-0CD4-29DF99BD8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8E119C-FC40-3730-9FE1-A7106709C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06C-8632-424B-BF41-F478A3F78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702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975854-18DC-B210-0089-51C3E7139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6BF845-4479-8420-D877-D167CA463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DB9854-5B82-688C-58FC-6D6FA74B32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631B84-C56B-4158-BF91-B47A5451F9D7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DE1609-FF52-3E6F-E49D-51D035098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4B78A4-1B4C-5D5E-9B00-A4E606407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71F06C-8632-424B-BF41-F478A3F78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965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125F09B-A9DD-81CA-2161-F0FCA7CF83B4}"/>
              </a:ext>
            </a:extLst>
          </p:cNvPr>
          <p:cNvSpPr txBox="1"/>
          <p:nvPr/>
        </p:nvSpPr>
        <p:spPr>
          <a:xfrm>
            <a:off x="4023360" y="1188720"/>
            <a:ext cx="3127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Jump without any condition</a:t>
            </a:r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84566C-80DB-D518-088C-B45FC29E4FC2}"/>
              </a:ext>
            </a:extLst>
          </p:cNvPr>
          <p:cNvSpPr txBox="1"/>
          <p:nvPr/>
        </p:nvSpPr>
        <p:spPr>
          <a:xfrm>
            <a:off x="5407152" y="-20657"/>
            <a:ext cx="63337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*MIPS = 32bit CPU</a:t>
            </a:r>
          </a:p>
          <a:p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	instruction system</a:t>
            </a:r>
          </a:p>
          <a:p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 1 instruction = 1 line = 32bit = 4byte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613E80-FB8A-F3B5-EF4B-BD9DFE5812AF}"/>
              </a:ext>
            </a:extLst>
          </p:cNvPr>
          <p:cNvSpPr txBox="1"/>
          <p:nvPr/>
        </p:nvSpPr>
        <p:spPr>
          <a:xfrm>
            <a:off x="2910840" y="3917942"/>
            <a:ext cx="938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00010</a:t>
            </a:r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E4747-0FD7-CEE8-6E0F-D9C9EA45EEA1}"/>
              </a:ext>
            </a:extLst>
          </p:cNvPr>
          <p:cNvSpPr txBox="1"/>
          <p:nvPr/>
        </p:nvSpPr>
        <p:spPr>
          <a:xfrm>
            <a:off x="4105656" y="3917942"/>
            <a:ext cx="80863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If L(2)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 00000000000000000000000010</a:t>
            </a:r>
          </a:p>
          <a:p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	= jump to this 32bit address (pc front 4bit + upper 26bit + 00)  why? 00 is fixed, and usually jumps to near instruction, so it’s not much differ from now address(PC). front 4bit of PC is </a:t>
            </a:r>
            <a:r>
              <a:rPr lang="en-US" altLang="ko-KR" sz="1400" dirty="0" err="1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enoughly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 big for fill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up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the left of 4bit (32-26-2(“00”)). 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E29F30-CC54-2B51-FFD3-60FED37C9ACE}"/>
              </a:ext>
            </a:extLst>
          </p:cNvPr>
          <p:cNvSpPr txBox="1"/>
          <p:nvPr/>
        </p:nvSpPr>
        <p:spPr>
          <a:xfrm>
            <a:off x="0" y="4597039"/>
            <a:ext cx="113385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*L</a:t>
            </a:r>
          </a:p>
          <a:p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If has 2 different meaning between unconditional and conditional</a:t>
            </a:r>
          </a:p>
          <a:p>
            <a:endParaRPr lang="en-US" altLang="ko-KR" sz="16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&lt;conditional&gt; [relative]</a:t>
            </a:r>
          </a:p>
          <a:p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The length(16,26bit) is not important. It’s useless</a:t>
            </a:r>
          </a:p>
          <a:p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You just have to know that it is a 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❤️</a:t>
            </a:r>
            <a:r>
              <a:rPr lang="en-US" altLang="ko-KR" sz="1600" b="1" dirty="0">
                <a:solidFill>
                  <a:schemeClr val="bg1">
                    <a:lumMod val="75000"/>
                  </a:schemeClr>
                </a:solidFill>
              </a:rPr>
              <a:t>count</a:t>
            </a:r>
            <a:r>
              <a:rPr lang="ko-KR" altLang="en-US" sz="1600" dirty="0">
                <a:solidFill>
                  <a:schemeClr val="bg1">
                    <a:lumMod val="75000"/>
                  </a:schemeClr>
                </a:solidFill>
              </a:rPr>
              <a:t>❤️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 of skipping instruction(s)</a:t>
            </a:r>
          </a:p>
          <a:p>
            <a:endParaRPr lang="en-US" altLang="ko-KR" sz="16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&lt;unconditional&gt; [absolute]</a:t>
            </a:r>
          </a:p>
          <a:p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 26bits refers to some part of the address of target instruction// [PC front 4 bit] + 26bits + 00[fixed]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96F89-CA32-EA76-075A-334FDF093A8B}"/>
              </a:ext>
            </a:extLst>
          </p:cNvPr>
          <p:cNvSpPr txBox="1"/>
          <p:nvPr/>
        </p:nvSpPr>
        <p:spPr>
          <a:xfrm>
            <a:off x="7894029" y="2123789"/>
            <a:ext cx="429797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*J-format</a:t>
            </a:r>
          </a:p>
          <a:p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Just a specific way of using 32bit separately</a:t>
            </a:r>
          </a:p>
          <a:p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Add, sub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 r-format</a:t>
            </a:r>
          </a:p>
          <a:p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Addi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 I-format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같음 기호 13">
            <a:extLst>
              <a:ext uri="{FF2B5EF4-FFF2-40B4-BE49-F238E27FC236}">
                <a16:creationId xmlns:a16="http://schemas.microsoft.com/office/drawing/2014/main" id="{A3EED31B-6160-BFA4-46C4-A0482DEDC4C8}"/>
              </a:ext>
            </a:extLst>
          </p:cNvPr>
          <p:cNvSpPr/>
          <p:nvPr/>
        </p:nvSpPr>
        <p:spPr>
          <a:xfrm rot="5400000">
            <a:off x="2930650" y="2451632"/>
            <a:ext cx="832106" cy="573995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31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9B8631-449B-7323-51F9-61BD21D6300E}"/>
              </a:ext>
            </a:extLst>
          </p:cNvPr>
          <p:cNvSpPr txBox="1"/>
          <p:nvPr/>
        </p:nvSpPr>
        <p:spPr>
          <a:xfrm>
            <a:off x="3944112" y="1174742"/>
            <a:ext cx="411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The way to calculating target address </a:t>
            </a:r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B8AFA1-2FEC-C2C6-CA46-2341E4AB36C9}"/>
              </a:ext>
            </a:extLst>
          </p:cNvPr>
          <p:cNvSpPr txBox="1"/>
          <p:nvPr/>
        </p:nvSpPr>
        <p:spPr>
          <a:xfrm>
            <a:off x="4279392" y="1857494"/>
            <a:ext cx="6473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Indicating the address of next instruction</a:t>
            </a:r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8F8A08-8E92-2D47-E391-3967F61FB2CF}"/>
              </a:ext>
            </a:extLst>
          </p:cNvPr>
          <p:cNvSpPr txBox="1"/>
          <p:nvPr/>
        </p:nvSpPr>
        <p:spPr>
          <a:xfrm>
            <a:off x="1042416" y="2355580"/>
            <a:ext cx="290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Jump if condition is true</a:t>
            </a:r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2B7F15-F20C-A59C-759D-DECCA2DFC86D}"/>
              </a:ext>
            </a:extLst>
          </p:cNvPr>
          <p:cNvSpPr txBox="1"/>
          <p:nvPr/>
        </p:nvSpPr>
        <p:spPr>
          <a:xfrm>
            <a:off x="1042416" y="2944368"/>
            <a:ext cx="3127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Jump without any condition</a:t>
            </a:r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868879-6264-1168-DEAA-DB56E4206AE7}"/>
              </a:ext>
            </a:extLst>
          </p:cNvPr>
          <p:cNvSpPr txBox="1"/>
          <p:nvPr/>
        </p:nvSpPr>
        <p:spPr>
          <a:xfrm>
            <a:off x="10516626" y="2135888"/>
            <a:ext cx="20746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 Move considering now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B797CF-C0FE-1409-A2D6-15965547988A}"/>
              </a:ext>
            </a:extLst>
          </p:cNvPr>
          <p:cNvSpPr txBox="1"/>
          <p:nvPr/>
        </p:nvSpPr>
        <p:spPr>
          <a:xfrm>
            <a:off x="2903354" y="3514065"/>
            <a:ext cx="10007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Because it’s </a:t>
            </a: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32bit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 CPU, and memory address uses count of </a:t>
            </a: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byte </a:t>
            </a:r>
          </a:p>
          <a:p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1 instruction = “1 line  = 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4byte”</a:t>
            </a: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 if want to jump 1 line, it is same as moving 4bytes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 </a:t>
            </a:r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A8E972D0-2C65-6F34-2C5F-E0263A1E4627}"/>
              </a:ext>
            </a:extLst>
          </p:cNvPr>
          <p:cNvGrpSpPr/>
          <p:nvPr/>
        </p:nvGrpSpPr>
        <p:grpSpPr>
          <a:xfrm>
            <a:off x="8560036" y="5086517"/>
            <a:ext cx="3631964" cy="1724266"/>
            <a:chOff x="8560036" y="5086517"/>
            <a:chExt cx="3631964" cy="1724266"/>
          </a:xfrm>
          <a:solidFill>
            <a:schemeClr val="bg1"/>
          </a:solidFill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A31D9E0-C86F-022D-31E0-AD22AC837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60036" y="5086517"/>
              <a:ext cx="3086531" cy="1724266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D1224C-D46D-B63E-FEA9-9C2062274CD6}"/>
                </a:ext>
              </a:extLst>
            </p:cNvPr>
            <p:cNvSpPr txBox="1"/>
            <p:nvPr/>
          </p:nvSpPr>
          <p:spPr>
            <a:xfrm>
              <a:off x="11349990" y="5086517"/>
              <a:ext cx="842010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</a:rPr>
                <a:t>Line 1 </a:t>
              </a:r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B661728-69C9-761C-E96B-8A4F538CB9AE}"/>
                </a:ext>
              </a:extLst>
            </p:cNvPr>
            <p:cNvSpPr txBox="1"/>
            <p:nvPr/>
          </p:nvSpPr>
          <p:spPr>
            <a:xfrm>
              <a:off x="11349990" y="5455849"/>
              <a:ext cx="842010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</a:rPr>
                <a:t>Line 2 </a:t>
              </a:r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4FF0312-37EC-D6F7-3F53-3D1AE3F6EBDB}"/>
                </a:ext>
              </a:extLst>
            </p:cNvPr>
            <p:cNvSpPr txBox="1"/>
            <p:nvPr/>
          </p:nvSpPr>
          <p:spPr>
            <a:xfrm>
              <a:off x="11349990" y="5948650"/>
              <a:ext cx="842010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</a:rPr>
                <a:t>Line 3 </a:t>
              </a:r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6A1D78F-53BC-DEBD-5570-123368A713C7}"/>
                </a:ext>
              </a:extLst>
            </p:cNvPr>
            <p:cNvSpPr txBox="1"/>
            <p:nvPr/>
          </p:nvSpPr>
          <p:spPr>
            <a:xfrm>
              <a:off x="11349990" y="6379716"/>
              <a:ext cx="842010" cy="369332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75000"/>
                    </a:schemeClr>
                  </a:solidFill>
                </a:rPr>
                <a:t>Line 4 </a:t>
              </a:r>
              <a:endParaRPr lang="ko-KR" altLang="en-US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A23DCCE-A60A-2A3F-C2DB-B79C92AD6188}"/>
              </a:ext>
            </a:extLst>
          </p:cNvPr>
          <p:cNvSpPr txBox="1"/>
          <p:nvPr/>
        </p:nvSpPr>
        <p:spPr>
          <a:xfrm>
            <a:off x="4386900" y="4406481"/>
            <a:ext cx="4263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L = </a:t>
            </a: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Count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 of skipping instruction 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42D72F-578D-F1D8-12C8-A02A247BEF88}"/>
              </a:ext>
            </a:extLst>
          </p:cNvPr>
          <p:cNvSpPr txBox="1"/>
          <p:nvPr/>
        </p:nvSpPr>
        <p:spPr>
          <a:xfrm>
            <a:off x="5618293" y="5447635"/>
            <a:ext cx="1952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Front 4bit of PC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76134A-26AD-E428-FFD0-B8CEA89B31F4}"/>
              </a:ext>
            </a:extLst>
          </p:cNvPr>
          <p:cNvSpPr txBox="1"/>
          <p:nvPr/>
        </p:nvSpPr>
        <p:spPr>
          <a:xfrm>
            <a:off x="7025603" y="4869857"/>
            <a:ext cx="1952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Binary or bit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432E5D-8305-9F6A-FB47-A757771112C8}"/>
              </a:ext>
            </a:extLst>
          </p:cNvPr>
          <p:cNvSpPr txBox="1"/>
          <p:nvPr/>
        </p:nvSpPr>
        <p:spPr>
          <a:xfrm>
            <a:off x="6870009" y="2635506"/>
            <a:ext cx="3127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 Move to exactly other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E8DB1A-EC76-4E8E-DBB2-6D0B4535EEB5}"/>
              </a:ext>
            </a:extLst>
          </p:cNvPr>
          <p:cNvSpPr txBox="1"/>
          <p:nvPr/>
        </p:nvSpPr>
        <p:spPr>
          <a:xfrm>
            <a:off x="3631965" y="6010384"/>
            <a:ext cx="3939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Like chain. It occurs continuously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711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279</Words>
  <Application>Microsoft Office PowerPoint</Application>
  <PresentationFormat>와이드스크린</PresentationFormat>
  <Paragraphs>36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김</dc:creator>
  <cp:lastModifiedBy>현진 김</cp:lastModifiedBy>
  <cp:revision>1</cp:revision>
  <dcterms:created xsi:type="dcterms:W3CDTF">2024-10-10T14:38:11Z</dcterms:created>
  <dcterms:modified xsi:type="dcterms:W3CDTF">2024-10-10T15:21:35Z</dcterms:modified>
</cp:coreProperties>
</file>